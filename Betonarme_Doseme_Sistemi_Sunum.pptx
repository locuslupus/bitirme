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91440" cy="685800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914400"/>
            <a:ext cx="3200400" cy="502920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0" y="914400"/>
            <a:ext cx="320040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5888736"/>
            <a:ext cx="320040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EEF"/>
                </a:solidFill>
              </a:rPr>
              <a:t>YAPay ZEKA DESTEKLİ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Betonarme Döşeme
Otomatik Hesap Sistemi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F1FB"/>
                </a:solidFill>
              </a:rPr>
              <a:t>YOLO Nesne Tanıma  ·  OCR Metin Okuma  ·  TS500 Mühendislik Hesabı  ·  DXF/PDF Çıktı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28016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00AEEF"/>
                </a:solidFill>
              </a:rPr>
              <a:t>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4688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</a:rPr>
              <a:t>📌 Kalıp Planı → Hesap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</a:rPr>
              <a:t>🤖 YOLOv8 Segmentasyon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</a:rPr>
              <a:t>📐 TS500 / Koef. Yöntemi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FFFFFF"/>
                </a:solidFill>
              </a:rPr>
              <a:t>📄 DXF + PDF Çıktı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20640"/>
            <a:ext cx="777240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1FB"/>
                </a:solidFill>
              </a:rPr>
              <a:t>Bitirme Projesi Sunumu  · 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Projenin Amacı ve Motivasyonu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Kalıp planlarından donatı hesabına kadar tam otomatik bir akış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394960" cy="475488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53949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⚠️  Mevcut Sorun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Mühendisler kalıp planlarını manuel olarak inceliyor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Her döşeme için ayrı ayrı момент ve donatı hesabı yapılıyor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Bu süreç zaman alıcı ve insan hatalarına açık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DXF/AutoCAD çizimi de ek çaba gerektiriyor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Büyük projelerde onlarca döşeme binlerce değişken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içerebilmektedir. Manuel süreç verimli değildir.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394960" cy="475488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63040"/>
            <a:ext cx="5394960" cy="54864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6E"/>
                </a:solidFill>
              </a:rPr>
              <a:t>✅  Geliştirilen Çözüm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031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Kalıp planı görseli sisteme yüklenir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YOLOv8 modeli döşeme, kiriş, balkon,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  aks balonu gibi sınıfları otomatik tanır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EasyOCR aks ve boyut metinlerini okur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TS500'e göre moment ve donatı hesaplanır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Donatı planı DXF + PDF olarak çıktılanır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→ Tüm akış tek tıkla, saniyeler içinde!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463040"/>
            <a:ext cx="73152" cy="475488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Sistem Mimarisi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Uçtan uca pipeline – 5 ana katman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63040"/>
            <a:ext cx="2148840" cy="4114800"/>
          </a:xfrm>
          <a:prstGeom prst="rect">
            <a:avLst/>
          </a:prstGeom>
          <a:solidFill>
            <a:srgbClr val="1A508B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214884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1691640"/>
            <a:ext cx="594360" cy="59436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0A1B3D"/>
                </a:solidFill>
              </a:rPr>
              <a:t>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3774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AEEF"/>
                </a:solidFill>
              </a:rPr>
              <a:t>GİRDİ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88036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1FB"/>
                </a:solidFill>
              </a:rPr>
              <a:t>Kalıp planı
görseli (PNG/JPG)</a:t>
            </a:r>
          </a:p>
        </p:txBody>
      </p:sp>
      <p:sp>
        <p:nvSpPr>
          <p:cNvPr id="14" name="Can 13"/>
          <p:cNvSpPr/>
          <p:nvPr/>
        </p:nvSpPr>
        <p:spPr>
          <a:xfrm>
            <a:off x="2468880" y="3291840"/>
            <a:ext cx="182880" cy="274320"/>
          </a:xfrm>
          <a:prstGeom prst="can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463040"/>
            <a:ext cx="2148840" cy="4114800"/>
          </a:xfrm>
          <a:prstGeom prst="rect">
            <a:avLst/>
          </a:prstGeom>
          <a:solidFill>
            <a:srgbClr val="1A508B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1463040"/>
            <a:ext cx="214884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29000" y="1691640"/>
            <a:ext cx="594360" cy="5943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0A1B3D"/>
                </a:solidFill>
              </a:rP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3774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000"/>
                </a:solidFill>
              </a:rPr>
              <a:t>YOLOv8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88036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1FB"/>
                </a:solidFill>
              </a:rPr>
              <a:t>Nesne tespiti
9 sınıf segmentasyon</a:t>
            </a:r>
          </a:p>
        </p:txBody>
      </p:sp>
      <p:sp>
        <p:nvSpPr>
          <p:cNvPr id="20" name="Can 19"/>
          <p:cNvSpPr/>
          <p:nvPr/>
        </p:nvSpPr>
        <p:spPr>
          <a:xfrm>
            <a:off x="4800600" y="3291840"/>
            <a:ext cx="182880" cy="274320"/>
          </a:xfrm>
          <a:prstGeom prst="can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83479" y="1463040"/>
            <a:ext cx="2148840" cy="4114800"/>
          </a:xfrm>
          <a:prstGeom prst="rect">
            <a:avLst/>
          </a:prstGeom>
          <a:solidFill>
            <a:srgbClr val="1A508B"/>
          </a:solidFill>
          <a:ln w="25400">
            <a:solidFill>
              <a:srgbClr val="00C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83479" y="1463040"/>
            <a:ext cx="2148840" cy="73152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60719" y="1691640"/>
            <a:ext cx="594360" cy="594360"/>
          </a:xfrm>
          <a:prstGeom prst="ellipse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0A1B3D"/>
                </a:solidFill>
              </a:rPr>
              <a:t>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23774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6E"/>
                </a:solidFill>
              </a:rPr>
              <a:t>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19" y="288036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1FB"/>
                </a:solidFill>
              </a:rPr>
              <a:t>EasyOCR ile
aks &amp; boyut okuma</a:t>
            </a:r>
          </a:p>
        </p:txBody>
      </p:sp>
      <p:sp>
        <p:nvSpPr>
          <p:cNvPr id="26" name="Can 25"/>
          <p:cNvSpPr/>
          <p:nvPr/>
        </p:nvSpPr>
        <p:spPr>
          <a:xfrm>
            <a:off x="7132319" y="3291840"/>
            <a:ext cx="182880" cy="274320"/>
          </a:xfrm>
          <a:prstGeom prst="can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199" y="1463040"/>
            <a:ext cx="2148840" cy="4114800"/>
          </a:xfrm>
          <a:prstGeom prst="rect">
            <a:avLst/>
          </a:prstGeom>
          <a:solidFill>
            <a:srgbClr val="1A508B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199" y="1463040"/>
            <a:ext cx="2148840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92440" y="1691640"/>
            <a:ext cx="594360" cy="59436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0A1B3D"/>
                </a:solidFill>
              </a:rPr>
              <a:t>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3774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</a:rPr>
              <a:t>HESAP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88036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1FB"/>
                </a:solidFill>
              </a:rPr>
              <a:t>TS500 moment
&amp; donatı tasarımı</a:t>
            </a:r>
          </a:p>
        </p:txBody>
      </p:sp>
      <p:sp>
        <p:nvSpPr>
          <p:cNvPr id="32" name="Can 31"/>
          <p:cNvSpPr/>
          <p:nvPr/>
        </p:nvSpPr>
        <p:spPr>
          <a:xfrm>
            <a:off x="9464040" y="3291840"/>
            <a:ext cx="182880" cy="274320"/>
          </a:xfrm>
          <a:prstGeom prst="can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46919" y="1463040"/>
            <a:ext cx="2148840" cy="4114800"/>
          </a:xfrm>
          <a:prstGeom prst="rect">
            <a:avLst/>
          </a:prstGeom>
          <a:solidFill>
            <a:srgbClr val="1A508B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46919" y="1463040"/>
            <a:ext cx="214884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424159" y="1691640"/>
            <a:ext cx="594360" cy="59436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rgbClr val="0A1B3D"/>
                </a:solidFill>
              </a:rPr>
              <a:t>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23774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AEEF"/>
                </a:solidFill>
              </a:rPr>
              <a:t>ÇIKTI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59" y="2880360"/>
            <a:ext cx="1965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8F1FB"/>
                </a:solidFill>
              </a:rPr>
              <a:t>DXF donatı planı
+ PDF raporu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760720"/>
            <a:ext cx="11521440" cy="5029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77900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Her adım birbirinin çıktısını girdi olarak kullanır – insan müdahalesi gerektirmez.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Adım 1 – YOLOv8 Nesne Tespiti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Kalıp planındaki yapısal elemanların otomatik tanınması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5303520" cy="480060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813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00"/>
                </a:solidFill>
              </a:rPr>
              <a:t>Tespit Edilen 9 Sınıf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65960"/>
            <a:ext cx="320040" cy="347472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659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B3D"/>
                </a:solidFill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84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slab_area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9842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Döşeme alanı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41448"/>
            <a:ext cx="32004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44144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B3D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4597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beam_area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459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Kiriş alanı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16936"/>
            <a:ext cx="320040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1693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B3D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9352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</a:rPr>
              <a:t>balcony_area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9352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Balkon alanı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92424"/>
            <a:ext cx="320040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39242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B3D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10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</a:rPr>
              <a:t>axis_bubble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34107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Aks balonu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867912"/>
            <a:ext cx="320040" cy="34747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8679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B3D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1FB"/>
                </a:solidFill>
              </a:rPr>
              <a:t>dimension_text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Boyut metni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343400"/>
            <a:ext cx="320040" cy="34747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3434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B3D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361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1FB"/>
                </a:solidFill>
              </a:rPr>
              <a:t>panel_text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361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Panel etiketi (D11...)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818888"/>
            <a:ext cx="320040" cy="34747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81888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B3D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83717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1FB"/>
                </a:solidFill>
              </a:rPr>
              <a:t>balcony_text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83717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Balkon etiketi (BL...)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294376"/>
            <a:ext cx="32004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29437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B3D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3126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column_symbol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53126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Kolon sembolü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769864"/>
            <a:ext cx="320040" cy="347472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76986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B3D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788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050"/>
                </a:solidFill>
              </a:rPr>
              <a:t>opening_area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5788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Boşluk / açıklık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1417320"/>
            <a:ext cx="5669280" cy="228600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1481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EEF"/>
                </a:solidFill>
              </a:rPr>
              <a:t>Model Detayları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19659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🏋  Model Ağırlıkları   :  best.pt  (~38 MB)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📐  Giriş Çözünürlüğü  :  1024 × 1024 piksel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🎯  Güven Eşiği        :  conf = 0.35 (ayarlanabilir)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🔧  Kütüphane          :  Ultralytics YOLOv8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📊  Görev              :  Object Detection / Segmentation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3840480"/>
            <a:ext cx="5669280" cy="237744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904487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6E"/>
                </a:solidFill>
              </a:rPr>
              <a:t>Nasıl Çalışır?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407408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1. Görsel piksel düzeyinde analiz edilir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2. Her tespit için sınıf + güven skoru + bbox üretilir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3. Bounding box koordinatları akslar arası hücre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   ataması için kullanılır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4. Bakma/karıştırma: slab ↔ balcony ↔ opening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   birbirine karıştırılmadan ayrılır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Adım 2 – Aks Çıkarımı &amp; OCR Metin Okuma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Yapısal grid'in ve boyutların otomatik olarak belirlenmesi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760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50" b="0">
                <a:solidFill>
                  <a:srgbClr val="FFFFFF"/>
                </a:solidFill>
              </a:rPr>
              <a:t>Hibrit Aks Oluşturma (build_axes_hybrid):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FFFFFF"/>
                </a:solidFill>
              </a:rPr>
              <a:t>   1️⃣  Kolon sembol merkezleri toplanır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FFFFFF"/>
                </a:solidFill>
              </a:rPr>
              <a:t>   2️⃣  Döşeme sınır koordinatları eklenir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FFFFFF"/>
                </a:solidFill>
              </a:rPr>
              <a:t>   3️⃣  Aks balonu merkezleri eklenir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FFFFFF"/>
                </a:solidFill>
              </a:rPr>
              <a:t>   4️⃣  Yakın koordinatlar birleştirilir (tol = 30 px)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FFFFFF"/>
                </a:solidFill>
              </a:rPr>
              <a:t>   5️⃣  OCR etiketleri en yakın aks çizgisine atanır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FFFFFF"/>
                </a:solidFill>
              </a:rPr>
              <a:t>   6️⃣  Eksik etiketler otomatik doldurulur (1,2,3… / A,B,C…)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54880"/>
            <a:ext cx="5760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50" b="0">
                <a:solidFill>
                  <a:srgbClr val="E8F1FB"/>
                </a:solidFill>
              </a:rPr>
              <a:t>EasyOCR – Boyut Okuma (parse_spans_cm_from_ocr):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E8F1FB"/>
                </a:solidFill>
              </a:rPr>
              <a:t>   • Sayısal tokenlar (20–9999 cm arası) ayıklanır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E8F1FB"/>
                </a:solidFill>
              </a:rPr>
              <a:t>   • Küresel piksel/cm ölçeği tahmin edilir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E8F1FB"/>
                </a:solidFill>
              </a:rPr>
              <a:t>   • Her aks aralığına en uyumlu değer atanır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E8F1FB"/>
                </a:solidFill>
              </a:rPr>
              <a:t>   • Fiziksel tutarlılık denetimi (±%50 tolerans)</a:t>
            </a:r>
          </a:p>
          <a:p>
            <a:pPr algn="l">
              <a:spcBef>
                <a:spcPts val="600"/>
              </a:spcBef>
            </a:pPr>
            <a:r>
              <a:rPr sz="1350" b="0">
                <a:solidFill>
                  <a:srgbClr val="E8F1FB"/>
                </a:solidFill>
              </a:rPr>
              <a:t>   • Hatalı okumalar (kiriş etiketi, kesir) filtrelenir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577840" cy="521208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EEF"/>
                </a:solidFill>
              </a:rPr>
              <a:t>Hücre Tipi Atama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Her (i, j) hücre için: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📗  SLAB    → Hücrenin %15'inden fazlası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             slab_area tespiti ile örtüşüyor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📕  OPENING  → opening_area tespiti var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⬜  VOID     → Hiçbiri yok (duvar / dış alan)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Bu grid mantığıyla her döşeme  bbox_ij  olarak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kodlanır: [i0, j0, i1, j1]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Span'lar cm → grid index'e çevrilir: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 count = round(span_cm / dx_cm)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 edges = kümülatif toplu liste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OCR Sınırlaması – Küçük Döşeme Metin Tespiti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Büyük döşemede iyi çalışırken küçük döşeme metinleri neden zor okunuyor?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5577840" cy="2331720"/>
          </a:xfrm>
          <a:prstGeom prst="rect">
            <a:avLst/>
          </a:prstGeom>
          <a:solidFill>
            <a:srgbClr val="1A508B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55778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SORUN   –   Neden Başarısız?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Büyük döşeme (örn. 8x6 m):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Boyut metni ekranda GENİŞ alana yayılır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→ Piksel yoğunluğu yüksek → OCR rahat okur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Küçük döşeme (örn. 2x1.5 m):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Aynı metin çok dar bir bant içine sıkışır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→ Piksel yoğunluğu düşük → harfler bulanık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→ EasyOCR karakterleri birleştirip yanlış okur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577840" cy="2286000"/>
          </a:xfrm>
          <a:prstGeom prst="rect">
            <a:avLst/>
          </a:prstGeom>
          <a:solidFill>
            <a:srgbClr val="1A508B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577840" cy="64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959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00"/>
                </a:solidFill>
              </a:rPr>
              <a:t>MEVCUT ÖNLEM   (Sistemde Var Olan)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34840"/>
            <a:ext cx="5212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_preprocess_variants() fonksiyonu: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V1  Orijinal kırpıntı x3 büyütme (INTER_CUBIC)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V2  CLAHE: Yerel kontrast artırma + büyütme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V3  Otomatik eşikleme → görüntüyü siyah/beyaza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     çevirme (koyu metin, açık zemin ayrışır)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V4  Gürültü temizleme → ince lekeler silinir,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     metin pikselleri netleştirilir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Oylama: En çok onaylanan değer kazanır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444752"/>
            <a:ext cx="5715000" cy="4773168"/>
          </a:xfrm>
          <a:prstGeom prst="rect">
            <a:avLst/>
          </a:prstGeom>
          <a:solidFill>
            <a:srgbClr val="1A508B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444752"/>
            <a:ext cx="5715000" cy="6400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EEF"/>
                </a:solidFill>
              </a:rPr>
              <a:t>ÇÖZÜM ÖNERİLERİ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2084832"/>
            <a:ext cx="457200" cy="457200"/>
          </a:xfrm>
          <a:prstGeom prst="ellipse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1B3D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04825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86E"/>
                </a:solidFill>
              </a:rPr>
              <a:t>Giriş Çözünürlüğünü Artır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591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imgsz = 1024 → 2048 piksel ile yeniden çalıştır;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58775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küçük nesneler daha fazla piksel alanı kazanır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2935224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1B3D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8986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C000"/>
                </a:solidFill>
              </a:rPr>
              <a:t>Adaptif Kırpıntı Büyütme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20954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Bbox alanı &lt; eşik ise büyütme katsayısı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43814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3x → 6x'e çıkarılır (bbox boyutuna göre dinamik)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3785615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1B3D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74903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6B35"/>
                </a:solidFill>
              </a:rPr>
              <a:t>Yapay Zeka ile Süper Çözünürlük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0599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EDSR / real-ESRGAN modeli ile düşük çözünürlüklü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28853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kırpıntıyı 4x büyütme → metin pikselleri artar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4636008"/>
            <a:ext cx="457200" cy="457200"/>
          </a:xfrm>
          <a:prstGeom prst="ellipse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1B3D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59943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C86E"/>
                </a:solidFill>
              </a:rPr>
              <a:t>GUI Manuel Düzeltme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9103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Tespit edilemeyen boyut değeri kullanıcı tarafından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13892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JSON / GUI üzerinden elle girilebilir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5486400"/>
            <a:ext cx="457200" cy="4572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A1B3D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4498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AEEF"/>
                </a:solidFill>
              </a:rPr>
              <a:t>Boyut Metnine Özel YOLO Modeli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7607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Yalnızca boyut metnine odaklı ayrı bir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989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YOLO modeli eğitilerek hassasiyet artırılır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355080"/>
            <a:ext cx="11612880" cy="329184"/>
          </a:xfrm>
          <a:prstGeom prst="rect">
            <a:avLst/>
          </a:prstGeom>
          <a:solidFill>
            <a:srgbClr val="00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364224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C000"/>
                </a:solidFill>
              </a:rPr>
              <a:t>Not: 8x6 m döşemede çalışmasının temel nedeni → geniş alan = yüksek piksel yoğunluğu = OCR doğruluğu artar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Adım 3 – TS500 Mühendislik Hesabı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Moment, donatı seçimi ve mesnet dengelemesi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749039" cy="4754880"/>
          </a:xfrm>
          <a:prstGeom prst="rect">
            <a:avLst/>
          </a:prstGeom>
          <a:solidFill>
            <a:srgbClr val="1A508B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3749039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AEEF"/>
                </a:solidFill>
              </a:rPr>
              <a:t>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423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EF"/>
                </a:solidFill>
              </a:rPr>
              <a:t>TEK DOĞRULTULU
(ONEWAY)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Ll / Ls &gt; 2 koşulu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Ana + dağıtım donatısı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Konsol (mesnet) momenti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TS500 Katsayı Yöntemi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Pilye ayrıştırması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63040"/>
            <a:ext cx="3749039" cy="4754880"/>
          </a:xfrm>
          <a:prstGeom prst="rect">
            <a:avLst/>
          </a:prstGeom>
          <a:solidFill>
            <a:srgbClr val="1A508B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463040"/>
            <a:ext cx="3749039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79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</a:rPr>
              <a:t>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23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</a:rPr>
              <a:t>ÇİFT DOĞRULTULU
(TWOWAY)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1089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Ll / Ls ≤ 2 koşulu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Mx ve My doğrultularında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ayrı moment hesabı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Mesnet dengelemesi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(balance_support_moments)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4 kenar için As seçimi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749039" cy="4754880"/>
          </a:xfrm>
          <a:prstGeom prst="rect">
            <a:avLst/>
          </a:prstGeom>
          <a:solidFill>
            <a:srgbClr val="1A508B"/>
          </a:solidFill>
          <a:ln w="25400">
            <a:solidFill>
              <a:srgbClr val="00C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749039" cy="73152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16459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86E"/>
                </a:solidFill>
              </a:rPr>
              <a:t>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4231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6E"/>
                </a:solidFill>
              </a:rPr>
              <a:t>KONSOL / BALKON
(BALCONY)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108960"/>
            <a:ext cx="3383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Ankastre mesnetli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Negatif moment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M = q·L²/2  formülü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Üst donatı tasarımı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• TS500 min. donatı</a:t>
            </a:r>
          </a:p>
          <a:p>
            <a:pPr algn="l">
              <a:spcBef>
                <a:spcPts val="600"/>
              </a:spcBef>
            </a:pPr>
            <a:r>
              <a:rPr sz="1250" b="0">
                <a:solidFill>
                  <a:srgbClr val="E8F1FB"/>
                </a:solidFill>
              </a:rPr>
              <a:t>  kontrolleri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6263640"/>
            <a:ext cx="11612880" cy="41148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27278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1FB"/>
                </a:solidFill>
              </a:rPr>
              <a:t>Ortak Girdiler: Beton sınıfı (C20–C50)  ·  Çelik sınıfı (B420C / B500C)  ·  h (döşeme kalınlığı mm)  ·  cover (pas payı mm)  ·  Pd (kN/m²)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Mesnet Dengelemesi – Komşu Döşeme Etkileşimi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Paylaşılan mesnetlerde farklı moment değerlerinin dengelenmesi (TS500)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1612880" cy="475488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</a:rPr>
              <a:t>Problem: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Komşu iki döşeme aynı mesnet kirişini paylaşıyor.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Her biri kendi başına hesaplanırken farklı negatif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moment değerleri üretir → çelişkili donatı!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6E"/>
                </a:solidFill>
              </a:rPr>
              <a:t>TS500 Çözümü: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77639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1. Her iki döşemenin mesnet momenti hesaplanır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2. Büyük olan değer %30 azaltılır (Mmax × 0,70)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3. Küçük olan değer %30 artırılır (Mmin × 1,30)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4. İkisi de eşit yapılır → tek donatı seçimi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5. Bu işlem tüm ortak mesnet çiftleri için yapılır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5303520" cy="4572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EEF"/>
                </a:solidFill>
              </a:rPr>
              <a:t>Dengeleme Şeması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103120"/>
            <a:ext cx="1920240" cy="1097280"/>
          </a:xfrm>
          <a:prstGeom prst="rect">
            <a:avLst/>
          </a:prstGeom>
          <a:solidFill>
            <a:srgbClr val="1A508B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Döşeme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</a:rPr>
              <a:t>M_neg = 8.5 kNm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1920240"/>
            <a:ext cx="182880" cy="146304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920240"/>
            <a:ext cx="320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A1B3D"/>
                </a:solidFill>
              </a:rPr>
              <a:t>KİRİŞ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03120"/>
            <a:ext cx="1920240" cy="1097280"/>
          </a:xfrm>
          <a:prstGeom prst="rect">
            <a:avLst/>
          </a:prstGeom>
          <a:solidFill>
            <a:srgbClr val="1A508B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1031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Döşeme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560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000"/>
                </a:solidFill>
              </a:rPr>
              <a:t>M_neg = 6.2 kNm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3832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6E"/>
                </a:solidFill>
              </a:rPr>
              <a:t>↓ Dengeleme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840480"/>
            <a:ext cx="4114800" cy="64008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8862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C86E"/>
                </a:solidFill>
              </a:rPr>
              <a:t>M_denge = 8.5×0.70 = 5.95  ≈  6.2×1.30 = 8.06  →  Ortak: ~7.0 kNm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572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8F1FB"/>
                </a:solidFill>
              </a:rPr>
              <a:t>Her iki döşeme aynı mesnet donatısı kullanır → tutarlılık sağlanır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Adım 4 – DXF Donatı Planı &amp; PDF Çıktısı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AutoCAD uyumlu çizim dosyası ve otomatik PDF dönüşümü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5577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📐  DXF Çıktısı (dxf_out.py)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Her döşeme için ayrı çizim katmanı (Layer)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Duz + pilye donatıları ayrı renk/tip çizgi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Aks hatları ve boyut çizgileri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Kiriş konumları kalın çizgi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Donatı isimleri, aralıkları metin olarak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Balkon donatısı üst katta gösterilir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📄  Otomatik PDF (ezdxf + matplotlib)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ezdxf kütüphanesi DXF'i okur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MatplotlibBackend A4 yatay sayfaya render eder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Koyu arka plan → tüm çizgiler net görünür</a:t>
            </a:r>
          </a:p>
          <a:p>
            <a:pPr algn="l">
              <a:spcBef>
                <a:spcPts val="600"/>
              </a:spcBef>
            </a:pPr>
            <a:r>
              <a:rPr sz="1300" b="0">
                <a:solidFill>
                  <a:srgbClr val="E8F1FB"/>
                </a:solidFill>
              </a:rPr>
              <a:t>• Kullanıcı tek tıkla PDF'i açabilir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94960" cy="521208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27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AEEF"/>
                </a:solidFill>
              </a:rPr>
              <a:t>DXF Katman Yapısı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029968"/>
            <a:ext cx="164592" cy="347472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0482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SLAB_EDGE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04825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Döşeme kenar çizgileri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596896"/>
            <a:ext cx="16459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6151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</a:rPr>
              <a:t>AXIS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6151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Aks çizgileri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3163824"/>
            <a:ext cx="164592" cy="3474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1821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</a:rPr>
              <a:t>BEAM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18211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Kiriş çizgileri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730752"/>
            <a:ext cx="164592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7490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REBAR_DUZ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374903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Düz donatı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297680"/>
            <a:ext cx="164592" cy="34747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3159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</a:rPr>
              <a:t>REBAR_PILYE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159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Pilye (kıvrık) donatı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4864608"/>
            <a:ext cx="164592" cy="347472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8828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REBAR_DIST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8828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Dağıtım donatısı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5431536"/>
            <a:ext cx="164592" cy="347472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5449823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1FB"/>
                </a:solidFill>
              </a:rPr>
              <a:t>DIMENSION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449823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Boyut ve etiket metinleri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5998464"/>
            <a:ext cx="164592" cy="347472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60167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050"/>
                </a:solidFill>
              </a:rPr>
              <a:t>BALCONY_EDGE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6016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Balkon kenrı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Kullanıcı Arayüzü – Kullanım Akışı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Tkinter tabanlı GUI – adım adım işlem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81328"/>
            <a:ext cx="11430000" cy="77724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81328"/>
            <a:ext cx="1143000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4048" y="1591056"/>
            <a:ext cx="548640" cy="54864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1B3D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572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EEF"/>
                </a:solidFill>
              </a:rPr>
              <a:t>Görsel Yükle (AI)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5727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1FB"/>
                </a:solidFill>
              </a:rPr>
              <a:t>Kalıp planı PNG/JPG seçilir → YOLO+OCR pipeline otomatik çalışır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95728"/>
            <a:ext cx="11430000" cy="77724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395728"/>
            <a:ext cx="114300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4048" y="2505456"/>
            <a:ext cx="548640" cy="54864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1B3D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4871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00"/>
                </a:solidFill>
              </a:rPr>
              <a:t>Malzeme Gir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24871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1FB"/>
                </a:solidFill>
              </a:rPr>
              <a:t>Beton sınıfı, çelik sınıfı, h (mm), pas payı seçilir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10128"/>
            <a:ext cx="11430000" cy="77724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310128"/>
            <a:ext cx="11430000" cy="54864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4048" y="3419856"/>
            <a:ext cx="548640" cy="548640"/>
          </a:xfrm>
          <a:prstGeom prst="ellipse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1B3D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01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6E"/>
                </a:solidFill>
              </a:rPr>
              <a:t>Kirişleri Düzenle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4015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1FB"/>
                </a:solidFill>
              </a:rPr>
              <a:t>Otomatik tespite ek olarak kullanıcı kiriş ekleyip çıkarabilir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24528"/>
            <a:ext cx="11430000" cy="77724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24528"/>
            <a:ext cx="114300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4334256"/>
            <a:ext cx="548640" cy="5486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1B3D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3159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Hesapla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3159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1FB"/>
                </a:solidFill>
              </a:rPr>
              <a:t>'Hesapla' butonuna basılır → TS500 hesabı yapılır, rapor ekranda görünür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38928"/>
            <a:ext cx="11430000" cy="77724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138928"/>
            <a:ext cx="1143000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84048" y="5248656"/>
            <a:ext cx="548640" cy="54864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A1B3D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2303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EEF"/>
                </a:solidFill>
              </a:rPr>
              <a:t>DXF/PDF 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230368"/>
            <a:ext cx="7406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1FB"/>
                </a:solidFill>
              </a:rPr>
              <a:t>Donatı planı DXF olarak kaydedilir, PDF otomatik oluşturulur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31850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1FB"/>
                </a:solidFill>
              </a:rPr>
              <a:t>💡  'JSON'dan Yükle' butonu ile önceden kaydedilmiş veri de kullanılabilir  ·  Conf ayarı ile tespit hassasiyeti anlık değiştirilebilir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Kod Mimarisi – Modül Haritası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1FB"/>
                </a:solidFill>
              </a:rPr>
              <a:t>Projenin dosya yapısı ve sorumluluk dağılımı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36192"/>
            <a:ext cx="109728" cy="594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572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</a:rPr>
              <a:t>main.py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8470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Giriş noktası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16276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Uygulamayı başlatır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21991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21991"/>
            <a:ext cx="109728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258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</a:rPr>
              <a:t>gui.py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53288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Kullanıcı Arayüzü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3134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Tkinter GUI, tıklama olayları, çizim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07791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907791"/>
            <a:ext cx="109728" cy="59436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944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pipeline.py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21868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Orkestrasyoncu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9992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YOLO → OCR → JSON → Slab akışını yönetir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93591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593591"/>
            <a:ext cx="109728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36301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infer_to_calc_inputs.py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" y="390448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Yapay Zeka Motoru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68503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YOLO çalıştırır, aks çıkarır, OCR okur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279392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4279392"/>
            <a:ext cx="109728" cy="594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315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</a:rPr>
              <a:t>json_loader.py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45902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Veri Ayrıştırıcı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437083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JSON → RealSlab + BeamEdge dönüşümü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965192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4965192"/>
            <a:ext cx="109728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5001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</a:rPr>
              <a:t>slab_model.py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" y="52760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Veri Modeli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505663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SlabSystem, Slab sınıfları ve hesap mantığı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650992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5650992"/>
            <a:ext cx="109728" cy="59436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687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oneway_slab.py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59618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Tek Doğrultulu Hesap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574243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TS500 koeffisient yöntemi – As tasarımı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1536192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1536192"/>
            <a:ext cx="109728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15727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twoway_slab.py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184708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Çift Doğrultulu Hesap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16276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Mx / My momentleri ve donatı seçimi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2221991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2221991"/>
            <a:ext cx="109728" cy="594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0528" y="22585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</a:rPr>
              <a:t>balcony_slab.py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8" y="2532887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Balkon Hesabı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23134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Konsol moment ve üst donatı tasarımı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2907791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60" y="2907791"/>
            <a:ext cx="109728" cy="5943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10528" y="29443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</a:rPr>
              <a:t>moment_balance_slab.py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3218687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Mesnet Dengelemesi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29992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Komşu döşeme mesnet momentlerini dengeler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3593591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309360" y="3593591"/>
            <a:ext cx="109728" cy="594360"/>
          </a:xfrm>
          <a:prstGeom prst="rect">
            <a:avLst/>
          </a:prstGeom>
          <a:solidFill>
            <a:srgbClr val="00C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10528" y="36301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6E"/>
                </a:solidFill>
              </a:rPr>
              <a:t>struct_design.py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10528" y="3904487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Mühendislik Formülleri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368503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As_min, smax, rebar seçim fonksiyonları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09360" y="4279392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09360" y="4279392"/>
            <a:ext cx="109728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10528" y="43159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dxf_out.py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10528" y="459028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DXF Yazıcı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437083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AutoCAD uyumlu çizim dosyası üretir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4965192"/>
            <a:ext cx="5577840" cy="5943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309360" y="4965192"/>
            <a:ext cx="109728" cy="594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10528" y="5001768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EF"/>
                </a:solidFill>
              </a:rPr>
              <a:t>constants.py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10528" y="527608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000"/>
                </a:solidFill>
              </a:rPr>
              <a:t>Sabitler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69680" y="5056631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1FB"/>
                </a:solidFill>
              </a:rPr>
              <a:t>Beton/çelik tabloları, TS500 katsayıları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AEEF"/>
                </a:solidFill>
              </a:rPr>
              <a:t>SONUÇ &amp; KATKILAR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51560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49240" cy="1371600"/>
          </a:xfrm>
          <a:prstGeom prst="rect">
            <a:avLst/>
          </a:prstGeom>
          <a:solidFill>
            <a:srgbClr val="1A508B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993392"/>
            <a:ext cx="548640" cy="54864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0A1B3D"/>
                </a:solidFill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7556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Yapay Zeka Entegrasyonu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1945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YOLOv8 ile formwork planlarından 9 farklı yapısal eleman sınıfı otomatik tanınır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5349240" cy="1371600"/>
          </a:xfrm>
          <a:prstGeom prst="rect">
            <a:avLst/>
          </a:prstGeom>
          <a:solidFill>
            <a:srgbClr val="1A508B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73368" y="1993392"/>
            <a:ext cx="548640" cy="54864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0A1B3D"/>
                </a:solidFill>
              </a:rPr>
              <a:t>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75564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Optik Karakter Tanıma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945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EasyOCR ile aks etiketleri ve boyutlar piksel düzeyinde okunur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5349240" cy="1371600"/>
          </a:xfrm>
          <a:prstGeom prst="rect">
            <a:avLst/>
          </a:prstGeom>
          <a:solidFill>
            <a:srgbClr val="1A508B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3547872"/>
            <a:ext cx="548640" cy="54864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0A1B3D"/>
                </a:solidFill>
              </a:rPr>
              <a:t>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3101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TS500 Hesabı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74903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Tek/çift doğrultulu ve konsol döşemeler için tam mühendislik hesabı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200400"/>
            <a:ext cx="5349240" cy="1371600"/>
          </a:xfrm>
          <a:prstGeom prst="rect">
            <a:avLst/>
          </a:prstGeom>
          <a:solidFill>
            <a:srgbClr val="1A508B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547872"/>
            <a:ext cx="548640" cy="54864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0A1B3D"/>
                </a:solidFill>
              </a:rP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3101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Mesnet Dengelemesi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74903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Komşu döşemeler arasında TS500'e uygun moment dengeleme algoritması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5349240" cy="1371600"/>
          </a:xfrm>
          <a:prstGeom prst="rect">
            <a:avLst/>
          </a:prstGeom>
          <a:solidFill>
            <a:srgbClr val="1A508B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5102352"/>
            <a:ext cx="548640" cy="54864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0A1B3D"/>
                </a:solidFill>
              </a:rPr>
              <a:t>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8646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DXF + PDF Çıktı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53035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AutoCAD uyumlu donatı planı ve otomatik PDF oluşturma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754880"/>
            <a:ext cx="5349240" cy="1371600"/>
          </a:xfrm>
          <a:prstGeom prst="rect">
            <a:avLst/>
          </a:prstGeom>
          <a:solidFill>
            <a:srgbClr val="1A508B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73368" y="5102352"/>
            <a:ext cx="548640" cy="54864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0A1B3D"/>
                </a:solidFill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8646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Tam Otomasyon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3035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1FB"/>
                </a:solidFill>
              </a:rPr>
              <a:t>Kalıp planından donatı planına kadar tek tıkla, insan müdahalesi minimum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50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1FB"/>
                </a:solidFill>
              </a:rPr>
              <a:t>Betonarme Döşeme Otomatik Hesap Sistemi  |  TS500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